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IPOPT</c:v>
                </c:pt>
              </c:strCache>
            </c:strRef>
          </c:tx>
          <c:spPr>
            <a:solidFill>
              <a:srgbClr val="0E8A8A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IVR</c:v>
                </c:pt>
                <c:pt idx="1">
                  <c:v>SVR</c:v>
                </c:pt>
                <c:pt idx="2">
                  <c:v>SVP (JuMP)</c:v>
                </c:pt>
                <c:pt idx="3">
                  <c:v>SVP (ExaModels)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24.8</c:v>
                </c:pt>
                <c:pt idx="1">
                  <c:v>56.2</c:v>
                </c:pt>
                <c:pt idx="2">
                  <c:v>128.2</c:v>
                </c:pt>
                <c:pt idx="3">
                  <c:v>65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KNITRO</c:v>
                </c:pt>
              </c:strCache>
            </c:strRef>
          </c:tx>
          <c:spPr>
            <a:solidFill>
              <a:srgbClr val="F4A11D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1E293B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IVR</c:v>
                </c:pt>
                <c:pt idx="1">
                  <c:v>SVR</c:v>
                </c:pt>
                <c:pt idx="2">
                  <c:v>SVP (JuMP)</c:v>
                </c:pt>
                <c:pt idx="3">
                  <c:v>SVP (ExaModels)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56.3</c:v>
                </c:pt>
                <c:pt idx="1">
                  <c:v>22.1</c:v>
                </c:pt>
                <c:pt idx="2">
                  <c:v>73.9</c:v>
                </c:pt>
                <c:pt idx="3">
                  <c:v>32.5</c:v>
                </c:pt>
              </c:numCache>
            </c:numRef>
          </c:val>
        </c:ser>
        <c:gapWidth val="150"/>
        <c:overlap val="0"/>
        <c:axId val="62496455"/>
        <c:axId val="60171809"/>
      </c:barChart>
      <c:catAx>
        <c:axId val="6249645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D1B2A"/>
                </a:solidFill>
                <a:uFillTx/>
                <a:latin typeface="Arial"/>
              </a:defRPr>
            </a:pPr>
          </a:p>
        </c:txPr>
        <c:crossAx val="60171809"/>
        <c:crosses val="autoZero"/>
        <c:auto val="1"/>
        <c:lblAlgn val="ctr"/>
        <c:lblOffset val="100"/>
        <c:noMultiLvlLbl val="0"/>
      </c:catAx>
      <c:valAx>
        <c:axId val="60171809"/>
        <c:scaling>
          <c:orientation val="minMax"/>
        </c:scaling>
        <c:delete val="0"/>
        <c:axPos val="l"/>
        <c:majorGridlines>
          <c:spPr>
            <a:ln w="6480">
              <a:solidFill>
                <a:srgbClr val="E2E8F0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DejaVu Sans"/>
                  </a:defRPr>
                </a:pPr>
                <a:r>
                  <a:rPr lang="en-AU" sz="1000" b="0" u="none" strike="noStrike">
                    <a:solidFill>
                      <a:srgbClr val="8BA3B0"/>
                    </a:solidFill>
                    <a:uFillTx/>
                    <a:latin typeface="Arial"/>
                  </a:rPr>
                  <a:t>Total time (s) — 128 instances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8BA3B0"/>
                </a:solidFill>
                <a:uFillTx/>
                <a:latin typeface="Arial"/>
              </a:defRPr>
            </a:pPr>
          </a:p>
        </c:txPr>
        <c:crossAx val="62496455"/>
        <c:crosses val="autoZero"/>
        <c:crossBetween val="between"/>
      </c:valAx>
      <c:spPr>
        <a:noFill/>
        <a:ln w="0">
          <a:noFill/>
        </a:ln>
      </c:spPr>
    </c:plotArea>
    <c:legend>
      <c:legendPos val="t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DejaVu Sans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defRPr>
            </a:lvl1pPr>
          </a:lstStyle>
          <a:p>
            <a:pPr indent="0" algn="r">
              <a:buNone/>
            </a:pPr>
            <a:fld id="{A7ABC2DD-32F6-4806-B533-B2AD4EC9C9D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DejaVu Serif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7D6AB7D-A7F4-4BC5-9218-F4ED58B11A4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E537DF6-4B9C-4914-AE16-6F25076088F2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7E0A429-FDCC-4BC2-8C5F-67A2D0ECD9B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99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9B452D53-CE57-49BD-A324-8A679E9A48B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2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DD90F18-0257-4702-A62D-5E52F8EE6534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E543F78-4631-4E5D-97BF-1F9D880B8F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8CF5D23-326A-4F75-A757-35592C53FA0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1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86900DB-BED7-4508-846D-B5E277F6DCB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4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1AFC2245-7F50-4995-8FAB-703EBF14958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87F2EC6-3D72-4B0E-B202-3C9E320B3E5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erif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19680" cy="51433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457200" y="822960"/>
            <a:ext cx="8412480" cy="360"/>
          </a:xfrm>
          <a:prstGeom prst="line">
            <a:avLst/>
          </a:prstGeom>
          <a:ln w="6350">
            <a:solidFill>
              <a:srgbClr val="1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457200" y="1645920"/>
            <a:ext cx="8412480" cy="360"/>
          </a:xfrm>
          <a:prstGeom prst="line">
            <a:avLst/>
          </a:prstGeom>
          <a:ln w="6350">
            <a:solidFill>
              <a:srgbClr val="1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" y="2468880"/>
            <a:ext cx="8412480" cy="360"/>
          </a:xfrm>
          <a:prstGeom prst="line">
            <a:avLst/>
          </a:prstGeom>
          <a:ln w="6350">
            <a:solidFill>
              <a:srgbClr val="1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457200" y="3291840"/>
            <a:ext cx="8412480" cy="360"/>
          </a:xfrm>
          <a:prstGeom prst="line">
            <a:avLst/>
          </a:prstGeom>
          <a:ln w="6350">
            <a:solidFill>
              <a:srgbClr val="1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4114800"/>
            <a:ext cx="8412480" cy="360"/>
          </a:xfrm>
          <a:prstGeom prst="line">
            <a:avLst/>
          </a:prstGeom>
          <a:ln w="6350">
            <a:solidFill>
              <a:srgbClr val="1A3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48640" y="640080"/>
            <a:ext cx="80463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Solving Three-Phase Distribution OPF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7" name="Text 7"/>
          <p:cNvSpPr/>
          <p:nvPr/>
        </p:nvSpPr>
        <p:spPr>
          <a:xfrm>
            <a:off x="548640" y="137160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2B0B0"/>
                </a:solidFill>
                <a:effectLst/>
                <a:uFillTx/>
                <a:latin typeface="Calibri"/>
                <a:ea typeface="Calibri"/>
              </a:rPr>
              <a:t>with Nonlinear Programming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548640" y="2148840"/>
            <a:ext cx="2285640" cy="4536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48640" y="2331720"/>
            <a:ext cx="8046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Frederik Geth, François Pacaud, Rahmat Heidari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48640" y="269748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University of Queensland  ·  Mines Paris-PSL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548640" y="3291840"/>
            <a:ext cx="2468520" cy="1279800"/>
          </a:xfrm>
          <a:prstGeom prst="rect">
            <a:avLst/>
          </a:prstGeom>
          <a:solidFill>
            <a:srgbClr val="2E4057"/>
          </a:solidFill>
          <a:ln w="19050">
            <a:solidFill>
              <a:srgbClr val="0E8A8A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548640" y="33375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4A11D"/>
                </a:solidFill>
                <a:effectLst/>
                <a:uFillTx/>
                <a:latin typeface="Calibri"/>
                <a:ea typeface="Calibri"/>
              </a:rPr>
              <a:t>128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548640" y="3931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LV Networks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4" name="Shape 14"/>
          <p:cNvSpPr/>
          <p:nvPr/>
        </p:nvSpPr>
        <p:spPr>
          <a:xfrm>
            <a:off x="3383280" y="3291840"/>
            <a:ext cx="2468520" cy="1279800"/>
          </a:xfrm>
          <a:prstGeom prst="rect">
            <a:avLst/>
          </a:prstGeom>
          <a:solidFill>
            <a:srgbClr val="2E4057"/>
          </a:solidFill>
          <a:ln w="19050">
            <a:solidFill>
              <a:srgbClr val="0E8A8A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3383280" y="33375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4A11D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6" name="Text 16"/>
          <p:cNvSpPr/>
          <p:nvPr/>
        </p:nvSpPr>
        <p:spPr>
          <a:xfrm>
            <a:off x="3383280" y="3931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Formulations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" name="Shape 17"/>
          <p:cNvSpPr/>
          <p:nvPr/>
        </p:nvSpPr>
        <p:spPr>
          <a:xfrm>
            <a:off x="6217920" y="3291840"/>
            <a:ext cx="2468520" cy="1279800"/>
          </a:xfrm>
          <a:prstGeom prst="rect">
            <a:avLst/>
          </a:prstGeom>
          <a:solidFill>
            <a:srgbClr val="2E4057"/>
          </a:solidFill>
          <a:ln w="19050">
            <a:solidFill>
              <a:srgbClr val="0E8A8A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Text 18"/>
          <p:cNvSpPr/>
          <p:nvPr/>
        </p:nvSpPr>
        <p:spPr>
          <a:xfrm>
            <a:off x="6217920" y="3337560"/>
            <a:ext cx="2468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4A11D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6217920" y="3931920"/>
            <a:ext cx="24685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NLP Solvers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30" name="Text 20"/>
          <p:cNvSpPr/>
          <p:nvPr/>
        </p:nvSpPr>
        <p:spPr>
          <a:xfrm>
            <a:off x="548640" y="4754880"/>
            <a:ext cx="80463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PSCC 2026 · Limassol, Cyprus · June 2026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Is Distribution OPF Different?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320040" y="777240"/>
            <a:ext cx="411444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Shape 3"/>
          <p:cNvSpPr/>
          <p:nvPr/>
        </p:nvSpPr>
        <p:spPr>
          <a:xfrm>
            <a:off x="320040" y="777240"/>
            <a:ext cx="4114440" cy="4568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 4"/>
          <p:cNvSpPr/>
          <p:nvPr/>
        </p:nvSpPr>
        <p:spPr>
          <a:xfrm>
            <a:off x="320040" y="777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Transmission OPF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521280" y="1426320"/>
            <a:ext cx="164160" cy="164160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Text 6"/>
          <p:cNvSpPr/>
          <p:nvPr/>
        </p:nvSpPr>
        <p:spPr>
          <a:xfrm>
            <a:off x="777240" y="137160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Single-phase (positive sequence)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38" name="Shape 7"/>
          <p:cNvSpPr/>
          <p:nvPr/>
        </p:nvSpPr>
        <p:spPr>
          <a:xfrm>
            <a:off x="521280" y="2084760"/>
            <a:ext cx="164160" cy="164160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Text 8"/>
          <p:cNvSpPr/>
          <p:nvPr/>
        </p:nvSpPr>
        <p:spPr>
          <a:xfrm>
            <a:off x="777240" y="20300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Power-polar voltage (SVP) formulation is best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0" name="Shape 9"/>
          <p:cNvSpPr/>
          <p:nvPr/>
        </p:nvSpPr>
        <p:spPr>
          <a:xfrm>
            <a:off x="521280" y="2743200"/>
            <a:ext cx="164160" cy="164160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777240" y="26884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Interior point method converges easily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2" name="Shape 11"/>
          <p:cNvSpPr/>
          <p:nvPr/>
        </p:nvSpPr>
        <p:spPr>
          <a:xfrm>
            <a:off x="521280" y="3401640"/>
            <a:ext cx="164160" cy="164160"/>
          </a:xfrm>
          <a:prstGeom prst="ellipse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Text 12"/>
          <p:cNvSpPr/>
          <p:nvPr/>
        </p:nvSpPr>
        <p:spPr>
          <a:xfrm>
            <a:off x="777240" y="334656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Sparse, well-conditioned Jacobian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4" name="Shape 13"/>
          <p:cNvSpPr/>
          <p:nvPr/>
        </p:nvSpPr>
        <p:spPr>
          <a:xfrm>
            <a:off x="4800600" y="777240"/>
            <a:ext cx="4114440" cy="393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Shape 14"/>
          <p:cNvSpPr/>
          <p:nvPr/>
        </p:nvSpPr>
        <p:spPr>
          <a:xfrm>
            <a:off x="4800600" y="777240"/>
            <a:ext cx="411444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Text 15"/>
          <p:cNvSpPr/>
          <p:nvPr/>
        </p:nvSpPr>
        <p:spPr>
          <a:xfrm>
            <a:off x="4800600" y="777240"/>
            <a:ext cx="4114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Distribution OPF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7" name="Shape 16"/>
          <p:cNvSpPr/>
          <p:nvPr/>
        </p:nvSpPr>
        <p:spPr>
          <a:xfrm>
            <a:off x="5001840" y="1426320"/>
            <a:ext cx="164160" cy="16416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 17"/>
          <p:cNvSpPr/>
          <p:nvPr/>
        </p:nvSpPr>
        <p:spPr>
          <a:xfrm>
            <a:off x="5257800" y="1371600"/>
            <a:ext cx="3474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Three-phase </a:t>
            </a:r>
            <a:r>
              <a:rPr lang="en-US" sz="1300" b="0" u="none" strike="noStrike">
                <a:solidFill>
                  <a:srgbClr val="FF0000"/>
                </a:solidFill>
                <a:effectLst/>
                <a:uFillTx/>
                <a:latin typeface="Calibri"/>
                <a:ea typeface="Calibri"/>
              </a:rPr>
              <a:t>with 3×3 impedances (not diagonalizable in general), no grounded terminals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49" name="Shape 18"/>
          <p:cNvSpPr/>
          <p:nvPr/>
        </p:nvSpPr>
        <p:spPr>
          <a:xfrm>
            <a:off x="5001840" y="2084760"/>
            <a:ext cx="164160" cy="16416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Text 19"/>
          <p:cNvSpPr/>
          <p:nvPr/>
        </p:nvSpPr>
        <p:spPr>
          <a:xfrm>
            <a:off x="5257800" y="203004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Unbalanced loads + untransposed lines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1" name="Shape 20"/>
          <p:cNvSpPr/>
          <p:nvPr/>
        </p:nvSpPr>
        <p:spPr>
          <a:xfrm>
            <a:off x="5001840" y="2743200"/>
            <a:ext cx="164160" cy="16416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Text 21"/>
          <p:cNvSpPr/>
          <p:nvPr/>
        </p:nvSpPr>
        <p:spPr>
          <a:xfrm>
            <a:off x="5257800" y="26884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Mutual coupling between phases means less sparse system of equations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3" name="Shape 22"/>
          <p:cNvSpPr/>
          <p:nvPr/>
        </p:nvSpPr>
        <p:spPr>
          <a:xfrm>
            <a:off x="5001840" y="3401640"/>
            <a:ext cx="164160" cy="16416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23"/>
          <p:cNvSpPr/>
          <p:nvPr/>
        </p:nvSpPr>
        <p:spPr>
          <a:xfrm>
            <a:off x="5257800" y="334656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3× more variables → new challenges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5" name="Text 26"/>
          <p:cNvSpPr/>
          <p:nvPr/>
        </p:nvSpPr>
        <p:spPr>
          <a:xfrm>
            <a:off x="320040" y="4663440"/>
            <a:ext cx="85035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Key question: which nonlinear formulation works best for distribution networks, up to 3-wire?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56" name="Picture 26"/>
          <p:cNvPicPr/>
          <p:nvPr/>
        </p:nvPicPr>
        <p:blipFill>
          <a:blip r:embed="rId1"/>
          <a:stretch/>
        </p:blipFill>
        <p:spPr>
          <a:xfrm>
            <a:off x="5585760" y="3707280"/>
            <a:ext cx="2280240" cy="95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Three Distribution OPF Formulations Under Study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274320" y="777240"/>
            <a:ext cx="26514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Shape 3"/>
          <p:cNvSpPr/>
          <p:nvPr/>
        </p:nvSpPr>
        <p:spPr>
          <a:xfrm>
            <a:off x="274320" y="777240"/>
            <a:ext cx="2651400" cy="6854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4"/>
          <p:cNvSpPr/>
          <p:nvPr/>
        </p:nvSpPr>
        <p:spPr>
          <a:xfrm>
            <a:off x="274320" y="777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IVR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2" name="Text 5"/>
          <p:cNvSpPr/>
          <p:nvPr/>
        </p:nvSpPr>
        <p:spPr>
          <a:xfrm>
            <a:off x="274320" y="109728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Current–Voltage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Rectangular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411480" y="1600200"/>
            <a:ext cx="54360" cy="3196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Text 7"/>
          <p:cNvSpPr/>
          <p:nvPr/>
        </p:nvSpPr>
        <p:spPr>
          <a:xfrm>
            <a:off x="548640" y="15728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Quadratic constraints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411480" y="2286000"/>
            <a:ext cx="54360" cy="3196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 9"/>
          <p:cNvSpPr/>
          <p:nvPr/>
        </p:nvSpPr>
        <p:spPr>
          <a:xfrm>
            <a:off x="548640" y="22586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 automatic differentiation overhead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411480" y="2971800"/>
            <a:ext cx="54360" cy="3196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548640" y="29444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Most variables (n=1758)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411480" y="3657600"/>
            <a:ext cx="54360" cy="31968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548640" y="36302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Near-singular Hessian (κ≈10¹⁴)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1" name="Shape 14"/>
          <p:cNvSpPr/>
          <p:nvPr/>
        </p:nvSpPr>
        <p:spPr>
          <a:xfrm>
            <a:off x="3200400" y="777240"/>
            <a:ext cx="26514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Shape 15"/>
          <p:cNvSpPr/>
          <p:nvPr/>
        </p:nvSpPr>
        <p:spPr>
          <a:xfrm>
            <a:off x="3200400" y="777240"/>
            <a:ext cx="2651400" cy="68544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 16"/>
          <p:cNvSpPr/>
          <p:nvPr/>
        </p:nvSpPr>
        <p:spPr>
          <a:xfrm>
            <a:off x="3200400" y="777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SVR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4" name="Text 17"/>
          <p:cNvSpPr/>
          <p:nvPr/>
        </p:nvSpPr>
        <p:spPr>
          <a:xfrm>
            <a:off x="3200400" y="109728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Power–Voltage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Rectangular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5" name="Shape 18"/>
          <p:cNvSpPr/>
          <p:nvPr/>
        </p:nvSpPr>
        <p:spPr>
          <a:xfrm>
            <a:off x="3337560" y="1600200"/>
            <a:ext cx="54360" cy="3196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 19"/>
          <p:cNvSpPr/>
          <p:nvPr/>
        </p:nvSpPr>
        <p:spPr>
          <a:xfrm>
            <a:off x="3474720" y="15728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Quadratic constraints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7" name="Shape 20"/>
          <p:cNvSpPr/>
          <p:nvPr/>
        </p:nvSpPr>
        <p:spPr>
          <a:xfrm>
            <a:off x="3337560" y="2286000"/>
            <a:ext cx="54360" cy="3196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 21"/>
          <p:cNvSpPr/>
          <p:nvPr/>
        </p:nvSpPr>
        <p:spPr>
          <a:xfrm>
            <a:off x="3474720" y="22586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No automatic differentiation overhead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79" name="Shape 22"/>
          <p:cNvSpPr/>
          <p:nvPr/>
        </p:nvSpPr>
        <p:spPr>
          <a:xfrm>
            <a:off x="3337560" y="2971800"/>
            <a:ext cx="54360" cy="3196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 23"/>
          <p:cNvSpPr/>
          <p:nvPr/>
        </p:nvSpPr>
        <p:spPr>
          <a:xfrm>
            <a:off x="3474720" y="29444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Fewer variables (n=1062)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1" name="Shape 24"/>
          <p:cNvSpPr/>
          <p:nvPr/>
        </p:nvSpPr>
        <p:spPr>
          <a:xfrm>
            <a:off x="3337560" y="3657600"/>
            <a:ext cx="54360" cy="31968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 25"/>
          <p:cNvSpPr/>
          <p:nvPr/>
        </p:nvSpPr>
        <p:spPr>
          <a:xfrm>
            <a:off x="3474720" y="36302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Well-conditioned (κ≈10⁷)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3" name="Shape 26"/>
          <p:cNvSpPr/>
          <p:nvPr/>
        </p:nvSpPr>
        <p:spPr>
          <a:xfrm>
            <a:off x="6126480" y="777240"/>
            <a:ext cx="265140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Shape 27"/>
          <p:cNvSpPr/>
          <p:nvPr/>
        </p:nvSpPr>
        <p:spPr>
          <a:xfrm>
            <a:off x="6126480" y="777240"/>
            <a:ext cx="2651400" cy="6854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 28"/>
          <p:cNvSpPr/>
          <p:nvPr/>
        </p:nvSpPr>
        <p:spPr>
          <a:xfrm>
            <a:off x="6126480" y="777240"/>
            <a:ext cx="2651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SVP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6" name="Text 29"/>
          <p:cNvSpPr/>
          <p:nvPr/>
        </p:nvSpPr>
        <p:spPr>
          <a:xfrm>
            <a:off x="6126480" y="1097280"/>
            <a:ext cx="265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Power–Voltage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Polar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7" name="Shape 30"/>
          <p:cNvSpPr/>
          <p:nvPr/>
        </p:nvSpPr>
        <p:spPr>
          <a:xfrm>
            <a:off x="6263640" y="1600200"/>
            <a:ext cx="54360" cy="31968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 31"/>
          <p:cNvSpPr/>
          <p:nvPr/>
        </p:nvSpPr>
        <p:spPr>
          <a:xfrm>
            <a:off x="6400800" y="15728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Trig functions (sin/cos/tan)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89" name="Shape 32"/>
          <p:cNvSpPr/>
          <p:nvPr/>
        </p:nvSpPr>
        <p:spPr>
          <a:xfrm>
            <a:off x="6263640" y="2286000"/>
            <a:ext cx="54360" cy="31968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33"/>
          <p:cNvSpPr/>
          <p:nvPr/>
        </p:nvSpPr>
        <p:spPr>
          <a:xfrm>
            <a:off x="6400800" y="22586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Heavy automatic differentiation overhead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1" name="Shape 34"/>
          <p:cNvSpPr/>
          <p:nvPr/>
        </p:nvSpPr>
        <p:spPr>
          <a:xfrm>
            <a:off x="6263640" y="2971800"/>
            <a:ext cx="54360" cy="31968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 35"/>
          <p:cNvSpPr/>
          <p:nvPr/>
        </p:nvSpPr>
        <p:spPr>
          <a:xfrm>
            <a:off x="6400800" y="29444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Fewer variables (n=1062)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3" name="Shape 36"/>
          <p:cNvSpPr/>
          <p:nvPr/>
        </p:nvSpPr>
        <p:spPr>
          <a:xfrm>
            <a:off x="6263640" y="3657600"/>
            <a:ext cx="54360" cy="31968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 37"/>
          <p:cNvSpPr/>
          <p:nvPr/>
        </p:nvSpPr>
        <p:spPr>
          <a:xfrm>
            <a:off x="6400800" y="3630240"/>
            <a:ext cx="22399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Well-conditioned (κ≈10⁷)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5" name="Text 38"/>
          <p:cNvSpPr/>
          <p:nvPr/>
        </p:nvSpPr>
        <p:spPr>
          <a:xfrm>
            <a:off x="274320" y="468180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i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Transmission consensus: power-polar-voltage is best.  What about distribution?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Practical Pitfalls: What Can Go Wrong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274320" y="7772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F3D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274320" y="777240"/>
            <a:ext cx="347040" cy="11883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274320" y="7772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685800" y="8686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Wrong Phase Initialization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2" name="Text 6"/>
          <p:cNvSpPr/>
          <p:nvPr/>
        </p:nvSpPr>
        <p:spPr>
          <a:xfrm>
            <a:off x="685800" y="11887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Zero or negative-sequence start causes high failure rates. Always use positive-sequence: 1∠0°, 1∠−120°, 1∠+120°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274320" y="21488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F3D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Shape 8"/>
          <p:cNvSpPr/>
          <p:nvPr/>
        </p:nvSpPr>
        <p:spPr>
          <a:xfrm>
            <a:off x="274320" y="2148840"/>
            <a:ext cx="347040" cy="11883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274320" y="21488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685800" y="22402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Power Base Too Large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685800" y="25603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Transmission standard (100 MVA) causes numerical inaccuracy. Use ≤1000 kW for distribution networks.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08" name="Shape 12"/>
          <p:cNvSpPr/>
          <p:nvPr/>
        </p:nvSpPr>
        <p:spPr>
          <a:xfrm>
            <a:off x="274320" y="35204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D94F3D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9" name="Shape 13"/>
          <p:cNvSpPr/>
          <p:nvPr/>
        </p:nvSpPr>
        <p:spPr>
          <a:xfrm>
            <a:off x="274320" y="3520440"/>
            <a:ext cx="347040" cy="118836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274320" y="35204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⚠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685800" y="36118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Degenerate Angle Reference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685800" y="39319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Without a voltage angle reference, all angles can shift freely — the problem becomes degenerate.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3" name="Shape 17"/>
          <p:cNvSpPr/>
          <p:nvPr/>
        </p:nvSpPr>
        <p:spPr>
          <a:xfrm>
            <a:off x="4754880" y="7772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6B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4754880" y="777240"/>
            <a:ext cx="347040" cy="11883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 19"/>
          <p:cNvSpPr/>
          <p:nvPr/>
        </p:nvSpPr>
        <p:spPr>
          <a:xfrm>
            <a:off x="4754880" y="7772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5166360" y="8686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E6B"/>
                </a:solidFill>
                <a:effectLst/>
                <a:uFillTx/>
                <a:latin typeface="Calibri"/>
                <a:ea typeface="Calibri"/>
              </a:rPr>
              <a:t>Add Angle Difference Constraints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5166360" y="11887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Constrain inter-phase angles near ±120°. Improves robustness with no significant runtime cost.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4754880" y="21488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6B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9" name="Shape 23"/>
          <p:cNvSpPr/>
          <p:nvPr/>
        </p:nvSpPr>
        <p:spPr>
          <a:xfrm>
            <a:off x="4754880" y="2148840"/>
            <a:ext cx="347040" cy="11883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4754880" y="21488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5166360" y="22402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E6B"/>
                </a:solidFill>
                <a:effectLst/>
                <a:uFillTx/>
                <a:latin typeface="Calibri"/>
                <a:ea typeface="Calibri"/>
              </a:rPr>
              <a:t>Merge Degree-2 Buses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2" name="Text 26"/>
          <p:cNvSpPr/>
          <p:nvPr/>
        </p:nvSpPr>
        <p:spPr>
          <a:xfrm>
            <a:off x="5166360" y="25603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Superfluous pass-through buses inflate problem size. Merging branches in series speeds up solution.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3" name="Shape 27"/>
          <p:cNvSpPr/>
          <p:nvPr/>
        </p:nvSpPr>
        <p:spPr>
          <a:xfrm>
            <a:off x="4754880" y="3520440"/>
            <a:ext cx="4114440" cy="1188360"/>
          </a:xfrm>
          <a:prstGeom prst="rect">
            <a:avLst/>
          </a:prstGeom>
          <a:solidFill>
            <a:srgbClr val="FFFFFF"/>
          </a:solidFill>
          <a:ln w="19050">
            <a:solidFill>
              <a:srgbClr val="2E9E6B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Shape 28"/>
          <p:cNvSpPr/>
          <p:nvPr/>
        </p:nvSpPr>
        <p:spPr>
          <a:xfrm>
            <a:off x="4754880" y="3520440"/>
            <a:ext cx="347040" cy="118836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 29"/>
          <p:cNvSpPr/>
          <p:nvPr/>
        </p:nvSpPr>
        <p:spPr>
          <a:xfrm>
            <a:off x="4754880" y="3520440"/>
            <a:ext cx="347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6" name="Text 30"/>
          <p:cNvSpPr/>
          <p:nvPr/>
        </p:nvSpPr>
        <p:spPr>
          <a:xfrm>
            <a:off x="5166360" y="36118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E6B"/>
                </a:solidFill>
                <a:effectLst/>
                <a:uFillTx/>
                <a:latin typeface="Calibri"/>
                <a:ea typeface="Calibri"/>
              </a:rPr>
              <a:t>Add Realistic Current Limits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27" name="Text 31"/>
          <p:cNvSpPr/>
          <p:nvPr/>
        </p:nvSpPr>
        <p:spPr>
          <a:xfrm>
            <a:off x="5166360" y="3931920"/>
            <a:ext cx="35658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Missing current bounds widen the feasible set. Add limits correlated with conductor cross-section.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Benchmark data set: 128 LV Networks from UK (ENWL)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0" name="Shape 2"/>
          <p:cNvSpPr/>
          <p:nvPr/>
        </p:nvSpPr>
        <p:spPr>
          <a:xfrm>
            <a:off x="274320" y="777240"/>
            <a:ext cx="411444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1" name="Shape 3"/>
          <p:cNvSpPr/>
          <p:nvPr/>
        </p:nvSpPr>
        <p:spPr>
          <a:xfrm>
            <a:off x="274320" y="777240"/>
            <a:ext cx="4114440" cy="4111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 4"/>
          <p:cNvSpPr/>
          <p:nvPr/>
        </p:nvSpPr>
        <p:spPr>
          <a:xfrm>
            <a:off x="274320" y="777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Dataset &amp; Setup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3" name="Shape 5"/>
          <p:cNvSpPr/>
          <p:nvPr/>
        </p:nvSpPr>
        <p:spPr>
          <a:xfrm>
            <a:off x="457200" y="132588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 6"/>
          <p:cNvSpPr/>
          <p:nvPr/>
        </p:nvSpPr>
        <p:spPr>
          <a:xfrm>
            <a:off x="658440" y="128016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128 single-grounded UK LV network models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5" name="Shape 7"/>
          <p:cNvSpPr/>
          <p:nvPr/>
        </p:nvSpPr>
        <p:spPr>
          <a:xfrm>
            <a:off x="457200" y="175572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 8"/>
          <p:cNvSpPr/>
          <p:nvPr/>
        </p:nvSpPr>
        <p:spPr>
          <a:xfrm>
            <a:off x="658440" y="171000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All three-phase lines, single-phase loads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7" name="Shape 9"/>
          <p:cNvSpPr/>
          <p:nvPr/>
        </p:nvSpPr>
        <p:spPr>
          <a:xfrm>
            <a:off x="457200" y="218556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 10"/>
          <p:cNvSpPr/>
          <p:nvPr/>
        </p:nvSpPr>
        <p:spPr>
          <a:xfrm>
            <a:off x="658440" y="21398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Realistic current limits added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39" name="Shape 11"/>
          <p:cNvSpPr/>
          <p:nvPr/>
        </p:nvSpPr>
        <p:spPr>
          <a:xfrm>
            <a:off x="457200" y="261504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 12"/>
          <p:cNvSpPr/>
          <p:nvPr/>
        </p:nvSpPr>
        <p:spPr>
          <a:xfrm>
            <a:off x="658440" y="256932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Degree-2 buses eliminated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1" name="Shape 13"/>
          <p:cNvSpPr/>
          <p:nvPr/>
        </p:nvSpPr>
        <p:spPr>
          <a:xfrm>
            <a:off x="457200" y="304488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 14"/>
          <p:cNvSpPr/>
          <p:nvPr/>
        </p:nvSpPr>
        <p:spPr>
          <a:xfrm>
            <a:off x="658440" y="299916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Dispatchable generators with linear cost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3" name="Shape 15"/>
          <p:cNvSpPr/>
          <p:nvPr/>
        </p:nvSpPr>
        <p:spPr>
          <a:xfrm>
            <a:off x="457200" y="347472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 16"/>
          <p:cNvSpPr/>
          <p:nvPr/>
        </p:nvSpPr>
        <p:spPr>
          <a:xfrm>
            <a:off x="658440" y="342900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Julia 1.11 + JuMP / ExaModels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5" name="Shape 17"/>
          <p:cNvSpPr/>
          <p:nvPr/>
        </p:nvSpPr>
        <p:spPr>
          <a:xfrm>
            <a:off x="457200" y="390456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 18"/>
          <p:cNvSpPr/>
          <p:nvPr/>
        </p:nvSpPr>
        <p:spPr>
          <a:xfrm>
            <a:off x="658440" y="385884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IPOPT 3.14 + HSL MA27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7" name="Shape 19"/>
          <p:cNvSpPr/>
          <p:nvPr/>
        </p:nvSpPr>
        <p:spPr>
          <a:xfrm>
            <a:off x="457200" y="4334400"/>
            <a:ext cx="136800" cy="136800"/>
          </a:xfrm>
          <a:prstGeom prst="ellipse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 20"/>
          <p:cNvSpPr/>
          <p:nvPr/>
        </p:nvSpPr>
        <p:spPr>
          <a:xfrm>
            <a:off x="658440" y="4288680"/>
            <a:ext cx="35658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KNITRO 15.0 for comparison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49" name="Shape 21"/>
          <p:cNvSpPr/>
          <p:nvPr/>
        </p:nvSpPr>
        <p:spPr>
          <a:xfrm>
            <a:off x="4754880" y="777240"/>
            <a:ext cx="4114440" cy="406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Shape 22"/>
          <p:cNvSpPr/>
          <p:nvPr/>
        </p:nvSpPr>
        <p:spPr>
          <a:xfrm>
            <a:off x="4754880" y="777240"/>
            <a:ext cx="4114440" cy="411120"/>
          </a:xfrm>
          <a:prstGeom prst="rect">
            <a:avLst/>
          </a:prstGeom>
          <a:solidFill>
            <a:srgbClr val="2E4057"/>
          </a:solidFill>
          <a:ln w="12700">
            <a:solidFill>
              <a:srgbClr val="2E405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 23"/>
          <p:cNvSpPr/>
          <p:nvPr/>
        </p:nvSpPr>
        <p:spPr>
          <a:xfrm>
            <a:off x="4754880" y="777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Options Tested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2" name="Text 24"/>
          <p:cNvSpPr/>
          <p:nvPr/>
        </p:nvSpPr>
        <p:spPr>
          <a:xfrm>
            <a:off x="4892040" y="1325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Formulations: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3" name="Text 25"/>
          <p:cNvSpPr/>
          <p:nvPr/>
        </p:nvSpPr>
        <p:spPr>
          <a:xfrm>
            <a:off x="4892040" y="15728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IVR, SVR, SVP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4" name="Text 26"/>
          <p:cNvSpPr/>
          <p:nvPr/>
        </p:nvSpPr>
        <p:spPr>
          <a:xfrm>
            <a:off x="4892040" y="1901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Voltage source: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5" name="Text 27"/>
          <p:cNvSpPr/>
          <p:nvPr/>
        </p:nvSpPr>
        <p:spPr>
          <a:xfrm>
            <a:off x="4892040" y="21488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3vm3vafix, 3vafix, vafix, vafixvadiff, vafixseq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6" name="Text 28"/>
          <p:cNvSpPr/>
          <p:nvPr/>
        </p:nvSpPr>
        <p:spPr>
          <a:xfrm>
            <a:off x="4892040" y="247788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Angle init: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7" name="Text 29"/>
          <p:cNvSpPr/>
          <p:nvPr/>
        </p:nvSpPr>
        <p:spPr>
          <a:xfrm>
            <a:off x="4892040" y="27248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pos, neg, zero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8" name="Text 30"/>
          <p:cNvSpPr/>
          <p:nvPr/>
        </p:nvSpPr>
        <p:spPr>
          <a:xfrm>
            <a:off x="4892040" y="30542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Sequence bounds: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59" name="Text 31"/>
          <p:cNvSpPr/>
          <p:nvPr/>
        </p:nvSpPr>
        <p:spPr>
          <a:xfrm>
            <a:off x="4892040" y="33008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on / off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0" name="Text 32"/>
          <p:cNvSpPr/>
          <p:nvPr/>
        </p:nvSpPr>
        <p:spPr>
          <a:xfrm>
            <a:off x="4892040" y="36302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Angle diff bounds: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1" name="Text 33"/>
          <p:cNvSpPr/>
          <p:nvPr/>
        </p:nvSpPr>
        <p:spPr>
          <a:xfrm>
            <a:off x="4892040" y="38772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on / off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2" name="Text 34"/>
          <p:cNvSpPr/>
          <p:nvPr/>
        </p:nvSpPr>
        <p:spPr>
          <a:xfrm>
            <a:off x="4892040" y="4206240"/>
            <a:ext cx="1462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2E4057"/>
                </a:solidFill>
                <a:effectLst/>
                <a:uFillTx/>
                <a:latin typeface="Calibri"/>
                <a:ea typeface="Calibri"/>
              </a:rPr>
              <a:t>Power base: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3" name="Text 35"/>
          <p:cNvSpPr/>
          <p:nvPr/>
        </p:nvSpPr>
        <p:spPr>
          <a:xfrm>
            <a:off x="4892040" y="445320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10 → 1,000,000 kW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64" name="TextBox 38"/>
          <p:cNvSpPr/>
          <p:nvPr/>
        </p:nvSpPr>
        <p:spPr>
          <a:xfrm>
            <a:off x="365760" y="4775760"/>
            <a:ext cx="8503560" cy="41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AU" sz="1000" b="0" u="none" strike="noStrike">
                <a:solidFill>
                  <a:srgbClr val="333333"/>
                </a:solidFill>
                <a:effectLst/>
                <a:uFillTx/>
                <a:latin typeface="HelveticaNeue Regular"/>
              </a:rPr>
              <a:t>V. Rigoni, L. F. Ochoa, G. Chicco, A. Navarro-Espinosa and T. Gozel, "Representative Residential LV Feeders: A Case Study for the North West of England," in </a:t>
            </a:r>
            <a:r>
              <a:rPr lang="en-AU" sz="1000" b="0" i="1" u="none" strike="noStrike">
                <a:solidFill>
                  <a:srgbClr val="333333"/>
                </a:solidFill>
                <a:effectLst/>
                <a:uFillTx/>
                <a:latin typeface="HelveticaNeue Regular"/>
              </a:rPr>
              <a:t>IEEE Transactions on Power Systems</a:t>
            </a:r>
            <a:r>
              <a:rPr lang="en-AU" sz="1000" b="0" u="none" strike="noStrike">
                <a:solidFill>
                  <a:srgbClr val="333333"/>
                </a:solidFill>
                <a:effectLst/>
                <a:uFillTx/>
                <a:latin typeface="HelveticaNeue Regular"/>
              </a:rPr>
              <a:t>, vol. 31, no. 1, pp. 348-360, Jan. 2016, doi: 10.1109/TPWRS.2015.2403252.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Main Result: Best Formulation Depends on Solver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graphicFrame>
        <p:nvGraphicFramePr>
          <p:cNvPr id="167" name="Chart 0"/>
          <p:cNvGraphicFramePr/>
          <p:nvPr/>
        </p:nvGraphicFramePr>
        <p:xfrm>
          <a:off x="274320" y="685800"/>
          <a:ext cx="530316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8" name="Shape 2"/>
          <p:cNvSpPr/>
          <p:nvPr/>
        </p:nvSpPr>
        <p:spPr>
          <a:xfrm>
            <a:off x="5806440" y="822960"/>
            <a:ext cx="306288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E8A8A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Shape 3"/>
          <p:cNvSpPr/>
          <p:nvPr/>
        </p:nvSpPr>
        <p:spPr>
          <a:xfrm>
            <a:off x="5806440" y="822960"/>
            <a:ext cx="3062880" cy="38376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 4"/>
          <p:cNvSpPr/>
          <p:nvPr/>
        </p:nvSpPr>
        <p:spPr>
          <a:xfrm>
            <a:off x="5806440" y="82296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IPOPT → IVR wins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1" name="Text 5"/>
          <p:cNvSpPr/>
          <p:nvPr/>
        </p:nvSpPr>
        <p:spPr>
          <a:xfrm>
            <a:off x="5806440" y="12618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24.8s total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2" name="Text 6"/>
          <p:cNvSpPr/>
          <p:nvPr/>
        </p:nvSpPr>
        <p:spPr>
          <a:xfrm>
            <a:off x="5897880" y="164592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Filter line-search handles IVR well despite near-singular Hessian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3" name="Shape 7"/>
          <p:cNvSpPr/>
          <p:nvPr/>
        </p:nvSpPr>
        <p:spPr>
          <a:xfrm>
            <a:off x="5806440" y="2880360"/>
            <a:ext cx="3062880" cy="1737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4A11D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4" name="Shape 8"/>
          <p:cNvSpPr/>
          <p:nvPr/>
        </p:nvSpPr>
        <p:spPr>
          <a:xfrm>
            <a:off x="5806440" y="2880360"/>
            <a:ext cx="3062880" cy="38376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 9"/>
          <p:cNvSpPr/>
          <p:nvPr/>
        </p:nvSpPr>
        <p:spPr>
          <a:xfrm>
            <a:off x="5806440" y="2880360"/>
            <a:ext cx="30628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KNITRO → SVR wins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6" name="Text 10"/>
          <p:cNvSpPr/>
          <p:nvPr/>
        </p:nvSpPr>
        <p:spPr>
          <a:xfrm>
            <a:off x="5806440" y="3319200"/>
            <a:ext cx="30628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4A11D"/>
                </a:solidFill>
                <a:effectLst/>
                <a:uFillTx/>
                <a:latin typeface="Calibri"/>
                <a:ea typeface="Calibri"/>
              </a:rPr>
              <a:t>22.1s total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7" name="Text 11"/>
          <p:cNvSpPr/>
          <p:nvPr/>
        </p:nvSpPr>
        <p:spPr>
          <a:xfrm>
            <a:off x="5897880" y="3703320"/>
            <a:ext cx="28800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Trust-region algorithm avoids IVR degeneracy, SVR wins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78" name="Text 12"/>
          <p:cNvSpPr/>
          <p:nvPr/>
        </p:nvSpPr>
        <p:spPr>
          <a:xfrm>
            <a:off x="274320" y="481896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Power polar voltage is slowest for both solvers — contrary to transmission OPF!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Why Is SVP Slower in Distribution?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1" name="Shape 2"/>
          <p:cNvSpPr/>
          <p:nvPr/>
        </p:nvSpPr>
        <p:spPr>
          <a:xfrm>
            <a:off x="274320" y="74988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274320" y="749880"/>
            <a:ext cx="502560" cy="18284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274320" y="749880"/>
            <a:ext cx="502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868680" y="85968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Automatic Differentiation Overhead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868680" y="1280160"/>
            <a:ext cx="338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Power polar voltage uses sin, cos, tan — requires automatic differentiation to compute derivatives. With 3× more constraints than single-phase OPF, automatic differentiation cost dominates.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6" name="Shape 7"/>
          <p:cNvSpPr/>
          <p:nvPr/>
        </p:nvSpPr>
        <p:spPr>
          <a:xfrm>
            <a:off x="4754880" y="74988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7" name="Shape 8"/>
          <p:cNvSpPr/>
          <p:nvPr/>
        </p:nvSpPr>
        <p:spPr>
          <a:xfrm>
            <a:off x="4754880" y="749880"/>
            <a:ext cx="502560" cy="18284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4754880" y="749880"/>
            <a:ext cx="502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5349240" y="85968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Harder Newton Linear Systems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5349240" y="1280160"/>
            <a:ext cx="338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The 3-phase model makes Newton systems denser and harder to factor. More time per iteration in the sparse linear solver.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1" name="Shape 12"/>
          <p:cNvSpPr/>
          <p:nvPr/>
        </p:nvSpPr>
        <p:spPr>
          <a:xfrm>
            <a:off x="274320" y="276156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2" name="Shape 13"/>
          <p:cNvSpPr/>
          <p:nvPr/>
        </p:nvSpPr>
        <p:spPr>
          <a:xfrm>
            <a:off x="274320" y="2761560"/>
            <a:ext cx="502560" cy="182844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274320" y="2761560"/>
            <a:ext cx="502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868680" y="287136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4A11D"/>
                </a:solidFill>
                <a:effectLst/>
                <a:uFillTx/>
                <a:latin typeface="Calibri"/>
                <a:ea typeface="Calibri"/>
              </a:rPr>
              <a:t>ExaModels Helps — But Not Enough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5" name="Text 16"/>
          <p:cNvSpPr/>
          <p:nvPr/>
        </p:nvSpPr>
        <p:spPr>
          <a:xfrm>
            <a:off x="868680" y="3291840"/>
            <a:ext cx="338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Replacing JuMP with ExaModels halves power-polar voltage time (128s → 65s with IPOPT). Still 2.6× slower than IVR.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6" name="Shape 17"/>
          <p:cNvSpPr/>
          <p:nvPr/>
        </p:nvSpPr>
        <p:spPr>
          <a:xfrm>
            <a:off x="4754880" y="2761560"/>
            <a:ext cx="4114440" cy="1828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4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Shape 18"/>
          <p:cNvSpPr/>
          <p:nvPr/>
        </p:nvSpPr>
        <p:spPr>
          <a:xfrm>
            <a:off x="4754880" y="2761560"/>
            <a:ext cx="502560" cy="18284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 19"/>
          <p:cNvSpPr/>
          <p:nvPr/>
        </p:nvSpPr>
        <p:spPr>
          <a:xfrm>
            <a:off x="4754880" y="2761560"/>
            <a:ext cx="50256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199" name="Text 20"/>
          <p:cNvSpPr/>
          <p:nvPr/>
        </p:nvSpPr>
        <p:spPr>
          <a:xfrm>
            <a:off x="5349240" y="2871360"/>
            <a:ext cx="33829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E6B"/>
                </a:solidFill>
                <a:effectLst/>
                <a:uFillTx/>
                <a:latin typeface="Calibri"/>
                <a:ea typeface="Calibri"/>
              </a:rPr>
              <a:t>IVR &amp; SVR Are Automatic Differentiation-Free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0" name="Text 21"/>
          <p:cNvSpPr/>
          <p:nvPr/>
        </p:nvSpPr>
        <p:spPr>
          <a:xfrm>
            <a:off x="5349240" y="3291840"/>
            <a:ext cx="338292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Quadratic formulations: derivatives are computed analytically. No automatic differentiation bottleneck, lower overhead per iteration.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1" name="Text 22"/>
          <p:cNvSpPr/>
          <p:nvPr/>
        </p:nvSpPr>
        <p:spPr>
          <a:xfrm>
            <a:off x="274320" y="4736520"/>
            <a:ext cx="8595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Bottom line: 3-phase complexity punishes SVP more than IVR/SVR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3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Numerical Scaling: Choose Your Power Base Carefully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4" name="Shape 2"/>
          <p:cNvSpPr/>
          <p:nvPr/>
        </p:nvSpPr>
        <p:spPr>
          <a:xfrm>
            <a:off x="5760720" y="777240"/>
            <a:ext cx="3108600" cy="1188360"/>
          </a:xfrm>
          <a:prstGeom prst="rect">
            <a:avLst/>
          </a:prstGeom>
          <a:solidFill>
            <a:srgbClr val="EAF4F4"/>
          </a:solidFill>
          <a:ln w="19050">
            <a:solidFill>
              <a:srgbClr val="0E8A8A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 3"/>
          <p:cNvSpPr/>
          <p:nvPr/>
        </p:nvSpPr>
        <p:spPr>
          <a:xfrm>
            <a:off x="5852160" y="8229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9E6B"/>
                </a:solidFill>
                <a:effectLst/>
                <a:uFillTx/>
                <a:latin typeface="Calibri"/>
                <a:ea typeface="Calibri"/>
              </a:rPr>
              <a:t>✓  Safe zone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6" name="Text 4"/>
          <p:cNvSpPr/>
          <p:nvPr/>
        </p:nvSpPr>
        <p:spPr>
          <a:xfrm>
            <a:off x="5852160" y="11430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sbase ≤ 1000 MVA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7" name="Text 5"/>
          <p:cNvSpPr/>
          <p:nvPr/>
        </p:nvSpPr>
        <p:spPr>
          <a:xfrm>
            <a:off x="5852160" y="1481400"/>
            <a:ext cx="28342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Negligible numerical error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08" name="Shape 6"/>
          <p:cNvSpPr/>
          <p:nvPr/>
        </p:nvSpPr>
        <p:spPr>
          <a:xfrm>
            <a:off x="5760720" y="2240280"/>
            <a:ext cx="3108600" cy="1188360"/>
          </a:xfrm>
          <a:prstGeom prst="rect">
            <a:avLst/>
          </a:prstGeom>
          <a:solidFill>
            <a:srgbClr val="EAF4F4"/>
          </a:solidFill>
          <a:ln w="19050">
            <a:solidFill>
              <a:srgbClr val="D94F3D"/>
            </a:solidFill>
            <a:round/>
          </a:ln>
          <a:effectLst>
            <a:outerShdw algn="bl" blurRad="101520" dir="8100000" dist="37674" rotWithShape="0">
              <a:srgbClr val="000000">
                <a:alpha val="13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 7"/>
          <p:cNvSpPr/>
          <p:nvPr/>
        </p:nvSpPr>
        <p:spPr>
          <a:xfrm>
            <a:off x="5852160" y="22860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✗  Danger zone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0" name="Text 8"/>
          <p:cNvSpPr/>
          <p:nvPr/>
        </p:nvSpPr>
        <p:spPr>
          <a:xfrm>
            <a:off x="5852160" y="26060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D94F3D"/>
                </a:solidFill>
                <a:effectLst/>
                <a:uFillTx/>
                <a:latin typeface="Calibri"/>
                <a:ea typeface="Calibri"/>
              </a:rPr>
              <a:t>sbase = 100 MVA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1" name="Text 9"/>
          <p:cNvSpPr/>
          <p:nvPr/>
        </p:nvSpPr>
        <p:spPr>
          <a:xfrm>
            <a:off x="5852160" y="2944440"/>
            <a:ext cx="2834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Transmission standard → avoidable inaccuracy in distribution!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2" name="Text 10"/>
          <p:cNvSpPr/>
          <p:nvPr/>
        </p:nvSpPr>
        <p:spPr>
          <a:xfrm>
            <a:off x="274320" y="461772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i="1" u="none" strike="noStrike">
                <a:solidFill>
                  <a:srgbClr val="0E8A8A"/>
                </a:solidFill>
                <a:effectLst/>
                <a:uFillTx/>
                <a:latin typeface="Calibri"/>
                <a:ea typeface="Calibri"/>
              </a:rPr>
              <a:t>The per-unit power base is a modeler's choice — make it ≤ 1000 MVA for these LV distribution feeders.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pic>
        <p:nvPicPr>
          <p:cNvPr id="213" name="Picture 14"/>
          <p:cNvPicPr/>
          <p:nvPr/>
        </p:nvPicPr>
        <p:blipFill>
          <a:blip r:embed="rId1"/>
          <a:stretch/>
        </p:blipFill>
        <p:spPr>
          <a:xfrm>
            <a:off x="274320" y="888840"/>
            <a:ext cx="5161680" cy="344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"/>
          <p:cNvPicPr/>
          <p:nvPr/>
        </p:nvPicPr>
        <p:blipFill>
          <a:blip r:embed="rId2"/>
          <a:stretch/>
        </p:blipFill>
        <p:spPr>
          <a:xfrm>
            <a:off x="457200" y="914400"/>
            <a:ext cx="4770360" cy="3124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4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0" y="0"/>
            <a:ext cx="9143640" cy="566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365760" y="0"/>
            <a:ext cx="841212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Practical Guide: Do's and Don'ts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7" name="Shape 2"/>
          <p:cNvSpPr/>
          <p:nvPr/>
        </p:nvSpPr>
        <p:spPr>
          <a:xfrm>
            <a:off x="274320" y="713160"/>
            <a:ext cx="4068720" cy="43848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 3"/>
          <p:cNvSpPr/>
          <p:nvPr/>
        </p:nvSpPr>
        <p:spPr>
          <a:xfrm>
            <a:off x="274320" y="7131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✓  DO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274320" y="120708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274320" y="120708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 6"/>
          <p:cNvSpPr/>
          <p:nvPr/>
        </p:nvSpPr>
        <p:spPr>
          <a:xfrm>
            <a:off x="438840" y="122544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 IVR with IPOPT, SVR with KNITRO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274320" y="1728360"/>
            <a:ext cx="4068720" cy="456840"/>
          </a:xfrm>
          <a:prstGeom prst="rect">
            <a:avLst/>
          </a:prstGeom>
          <a:solidFill>
            <a:srgbClr val="EAF4F4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274320" y="172836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438840" y="174636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Set power base ≤ 1000 kW (never 100 MVA)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5" name="Shape 10"/>
          <p:cNvSpPr/>
          <p:nvPr/>
        </p:nvSpPr>
        <p:spPr>
          <a:xfrm>
            <a:off x="274320" y="224928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274320" y="224928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438840" y="226764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Fix at least one voltage angle reference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28" name="Shape 13"/>
          <p:cNvSpPr/>
          <p:nvPr/>
        </p:nvSpPr>
        <p:spPr>
          <a:xfrm>
            <a:off x="274320" y="2770560"/>
            <a:ext cx="4068720" cy="456840"/>
          </a:xfrm>
          <a:prstGeom prst="rect">
            <a:avLst/>
          </a:prstGeom>
          <a:solidFill>
            <a:srgbClr val="EAF4F4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9" name="Shape 14"/>
          <p:cNvSpPr/>
          <p:nvPr/>
        </p:nvSpPr>
        <p:spPr>
          <a:xfrm>
            <a:off x="274320" y="277056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0" name="Text 15"/>
          <p:cNvSpPr/>
          <p:nvPr/>
        </p:nvSpPr>
        <p:spPr>
          <a:xfrm>
            <a:off x="438840" y="278892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Add inter-phase angle difference constraints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1" name="Shape 16"/>
          <p:cNvSpPr/>
          <p:nvPr/>
        </p:nvSpPr>
        <p:spPr>
          <a:xfrm>
            <a:off x="274320" y="329184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2" name="Shape 17"/>
          <p:cNvSpPr/>
          <p:nvPr/>
        </p:nvSpPr>
        <p:spPr>
          <a:xfrm>
            <a:off x="274320" y="329184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3" name="Text 18"/>
          <p:cNvSpPr/>
          <p:nvPr/>
        </p:nvSpPr>
        <p:spPr>
          <a:xfrm>
            <a:off x="438840" y="331020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Merge degree-2 buses before solving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4" name="Shape 19"/>
          <p:cNvSpPr/>
          <p:nvPr/>
        </p:nvSpPr>
        <p:spPr>
          <a:xfrm>
            <a:off x="274320" y="3813120"/>
            <a:ext cx="4068720" cy="456840"/>
          </a:xfrm>
          <a:prstGeom prst="rect">
            <a:avLst/>
          </a:prstGeom>
          <a:solidFill>
            <a:srgbClr val="EAF4F4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5" name="Shape 20"/>
          <p:cNvSpPr/>
          <p:nvPr/>
        </p:nvSpPr>
        <p:spPr>
          <a:xfrm>
            <a:off x="274320" y="381312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 21"/>
          <p:cNvSpPr/>
          <p:nvPr/>
        </p:nvSpPr>
        <p:spPr>
          <a:xfrm>
            <a:off x="438840" y="383148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Add realistic branch current limits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7" name="Shape 22"/>
          <p:cNvSpPr/>
          <p:nvPr/>
        </p:nvSpPr>
        <p:spPr>
          <a:xfrm>
            <a:off x="274320" y="433440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CE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  Use positive-sequence initialization: 1∠0°, 1∠−120°, 1∠+120°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38" name="Shape 23"/>
          <p:cNvSpPr/>
          <p:nvPr/>
        </p:nvSpPr>
        <p:spPr>
          <a:xfrm>
            <a:off x="274320" y="4334400"/>
            <a:ext cx="91080" cy="456840"/>
          </a:xfrm>
          <a:prstGeom prst="rect">
            <a:avLst/>
          </a:prstGeom>
          <a:solidFill>
            <a:srgbClr val="2E9E6B"/>
          </a:solidFill>
          <a:ln w="12700">
            <a:solidFill>
              <a:srgbClr val="2E9E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9" name="Text 24"/>
          <p:cNvSpPr/>
          <p:nvPr/>
        </p:nvSpPr>
        <p:spPr>
          <a:xfrm>
            <a:off x="438840" y="435240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0" name="Shape 25"/>
          <p:cNvSpPr/>
          <p:nvPr/>
        </p:nvSpPr>
        <p:spPr>
          <a:xfrm>
            <a:off x="4800600" y="713160"/>
            <a:ext cx="4068720" cy="43848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 26"/>
          <p:cNvSpPr/>
          <p:nvPr/>
        </p:nvSpPr>
        <p:spPr>
          <a:xfrm>
            <a:off x="4800600" y="713160"/>
            <a:ext cx="406872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✗  DON'T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2" name="Shape 27"/>
          <p:cNvSpPr/>
          <p:nvPr/>
        </p:nvSpPr>
        <p:spPr>
          <a:xfrm>
            <a:off x="4800600" y="120708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3" name="Shape 28"/>
          <p:cNvSpPr/>
          <p:nvPr/>
        </p:nvSpPr>
        <p:spPr>
          <a:xfrm>
            <a:off x="4800600" y="1207080"/>
            <a:ext cx="91080" cy="4568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 29"/>
          <p:cNvSpPr/>
          <p:nvPr/>
        </p:nvSpPr>
        <p:spPr>
          <a:xfrm>
            <a:off x="4965120" y="122544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Assume SVP is best (it's not — unlike in transmission)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5" name="Shape 30"/>
          <p:cNvSpPr/>
          <p:nvPr/>
        </p:nvSpPr>
        <p:spPr>
          <a:xfrm>
            <a:off x="4800600" y="1728360"/>
            <a:ext cx="4068720" cy="456840"/>
          </a:xfrm>
          <a:prstGeom prst="rect">
            <a:avLst/>
          </a:prstGeom>
          <a:solidFill>
            <a:srgbClr val="FFF0EE"/>
          </a:solidFill>
          <a:ln w="12700">
            <a:solidFill>
              <a:srgbClr val="F0D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6" name="Shape 31"/>
          <p:cNvSpPr/>
          <p:nvPr/>
        </p:nvSpPr>
        <p:spPr>
          <a:xfrm>
            <a:off x="4800600" y="1728360"/>
            <a:ext cx="91080" cy="4568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 32"/>
          <p:cNvSpPr/>
          <p:nvPr/>
        </p:nvSpPr>
        <p:spPr>
          <a:xfrm>
            <a:off x="4965120" y="174636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 100 MVA as power base for distribution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48" name="Shape 33"/>
          <p:cNvSpPr/>
          <p:nvPr/>
        </p:nvSpPr>
        <p:spPr>
          <a:xfrm>
            <a:off x="4800600" y="2249280"/>
            <a:ext cx="4068720" cy="45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0D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9" name="Shape 34"/>
          <p:cNvSpPr/>
          <p:nvPr/>
        </p:nvSpPr>
        <p:spPr>
          <a:xfrm>
            <a:off x="4800600" y="2249280"/>
            <a:ext cx="91080" cy="4568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 35"/>
          <p:cNvSpPr/>
          <p:nvPr/>
        </p:nvSpPr>
        <p:spPr>
          <a:xfrm>
            <a:off x="4965120" y="226764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Omit voltage angle reference (problem degenerates)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1" name="Shape 36"/>
          <p:cNvSpPr/>
          <p:nvPr/>
        </p:nvSpPr>
        <p:spPr>
          <a:xfrm>
            <a:off x="4800600" y="2770560"/>
            <a:ext cx="4068720" cy="456840"/>
          </a:xfrm>
          <a:prstGeom prst="rect">
            <a:avLst/>
          </a:prstGeom>
          <a:solidFill>
            <a:srgbClr val="FFF0EE"/>
          </a:solidFill>
          <a:ln w="12700">
            <a:solidFill>
              <a:srgbClr val="F0D8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lang="en-US" sz="1100" b="0" u="none" strike="noStrik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  Use KNITRO expecting IVR to be fastest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DejaVu Sans"/>
            </a:endParaRPr>
          </a:p>
        </p:txBody>
      </p:sp>
      <p:sp>
        <p:nvSpPr>
          <p:cNvPr id="252" name="Shape 37"/>
          <p:cNvSpPr/>
          <p:nvPr/>
        </p:nvSpPr>
        <p:spPr>
          <a:xfrm>
            <a:off x="4800600" y="2770560"/>
            <a:ext cx="91080" cy="456840"/>
          </a:xfrm>
          <a:prstGeom prst="rect">
            <a:avLst/>
          </a:prstGeom>
          <a:solidFill>
            <a:srgbClr val="D94F3D"/>
          </a:solidFill>
          <a:ln w="12700">
            <a:solidFill>
              <a:srgbClr val="D94F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 38"/>
          <p:cNvSpPr/>
          <p:nvPr/>
        </p:nvSpPr>
        <p:spPr>
          <a:xfrm>
            <a:off x="4965120" y="2788920"/>
            <a:ext cx="3794400" cy="40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pSp>
        <p:nvGrpSpPr>
          <p:cNvPr id="254" name="Group 51"/>
          <p:cNvGrpSpPr/>
          <p:nvPr/>
        </p:nvGrpSpPr>
        <p:grpSpPr>
          <a:xfrm>
            <a:off x="4800600" y="3291840"/>
            <a:ext cx="4068720" cy="456840"/>
            <a:chOff x="4800600" y="3291840"/>
            <a:chExt cx="4068720" cy="456840"/>
          </a:xfrm>
        </p:grpSpPr>
        <p:sp>
          <p:nvSpPr>
            <p:cNvPr id="255" name="Shape 39"/>
            <p:cNvSpPr/>
            <p:nvPr/>
          </p:nvSpPr>
          <p:spPr>
            <a:xfrm>
              <a:off x="4800600" y="3291840"/>
              <a:ext cx="4068720" cy="456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0D8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6" name="Shape 40"/>
            <p:cNvSpPr/>
            <p:nvPr/>
          </p:nvSpPr>
          <p:spPr>
            <a:xfrm>
              <a:off x="4800600" y="3291840"/>
              <a:ext cx="91080" cy="456840"/>
            </a:xfrm>
            <a:prstGeom prst="rect">
              <a:avLst/>
            </a:prstGeom>
            <a:solidFill>
              <a:srgbClr val="D94F3D"/>
            </a:solidFill>
            <a:ln w="12700">
              <a:solidFill>
                <a:srgbClr val="D94F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7" name="Text 41"/>
            <p:cNvSpPr/>
            <p:nvPr/>
          </p:nvSpPr>
          <p:spPr>
            <a:xfrm>
              <a:off x="4965120" y="3310200"/>
              <a:ext cx="3794400" cy="40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0D1B2A"/>
                  </a:solidFill>
                  <a:effectLst/>
                  <a:uFillTx/>
                  <a:latin typeface="Calibri"/>
                  <a:ea typeface="Calibri"/>
                </a:rPr>
                <a:t>Leave redundant data in the network model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DejaVu Sans"/>
              </a:endParaRPr>
            </a:p>
          </p:txBody>
        </p:sp>
      </p:grpSp>
      <p:grpSp>
        <p:nvGrpSpPr>
          <p:cNvPr id="258" name="Group 50"/>
          <p:cNvGrpSpPr/>
          <p:nvPr/>
        </p:nvGrpSpPr>
        <p:grpSpPr>
          <a:xfrm>
            <a:off x="4800600" y="3813120"/>
            <a:ext cx="4068720" cy="456840"/>
            <a:chOff x="4800600" y="3813120"/>
            <a:chExt cx="4068720" cy="456840"/>
          </a:xfrm>
        </p:grpSpPr>
        <p:sp>
          <p:nvSpPr>
            <p:cNvPr id="259" name="Shape 42"/>
            <p:cNvSpPr/>
            <p:nvPr/>
          </p:nvSpPr>
          <p:spPr>
            <a:xfrm>
              <a:off x="4800600" y="3813120"/>
              <a:ext cx="4068720" cy="456840"/>
            </a:xfrm>
            <a:prstGeom prst="rect">
              <a:avLst/>
            </a:prstGeom>
            <a:solidFill>
              <a:srgbClr val="FFF0EE"/>
            </a:solidFill>
            <a:ln w="12700">
              <a:solidFill>
                <a:srgbClr val="F0D8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0" name="Shape 43"/>
            <p:cNvSpPr/>
            <p:nvPr/>
          </p:nvSpPr>
          <p:spPr>
            <a:xfrm>
              <a:off x="4800600" y="3813120"/>
              <a:ext cx="91080" cy="456840"/>
            </a:xfrm>
            <a:prstGeom prst="rect">
              <a:avLst/>
            </a:prstGeom>
            <a:solidFill>
              <a:srgbClr val="D94F3D"/>
            </a:solidFill>
            <a:ln w="12700">
              <a:solidFill>
                <a:srgbClr val="D94F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1" name="Text 44"/>
            <p:cNvSpPr/>
            <p:nvPr/>
          </p:nvSpPr>
          <p:spPr>
            <a:xfrm>
              <a:off x="4965120" y="3831480"/>
              <a:ext cx="3794400" cy="40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0D1B2A"/>
                  </a:solidFill>
                  <a:effectLst/>
                  <a:uFillTx/>
                  <a:latin typeface="Calibri"/>
                  <a:ea typeface="Calibri"/>
                </a:rPr>
                <a:t>Forget current limits (inflates feasible set)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DejaVu Sans"/>
              </a:endParaRPr>
            </a:p>
          </p:txBody>
        </p:sp>
      </p:grpSp>
      <p:grpSp>
        <p:nvGrpSpPr>
          <p:cNvPr id="262" name="Group 49"/>
          <p:cNvGrpSpPr/>
          <p:nvPr/>
        </p:nvGrpSpPr>
        <p:grpSpPr>
          <a:xfrm>
            <a:off x="4800600" y="4334400"/>
            <a:ext cx="4068720" cy="456840"/>
            <a:chOff x="4800600" y="4334400"/>
            <a:chExt cx="4068720" cy="456840"/>
          </a:xfrm>
        </p:grpSpPr>
        <p:sp>
          <p:nvSpPr>
            <p:cNvPr id="263" name="Shape 45"/>
            <p:cNvSpPr/>
            <p:nvPr/>
          </p:nvSpPr>
          <p:spPr>
            <a:xfrm>
              <a:off x="4800600" y="4334400"/>
              <a:ext cx="4068720" cy="4568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0D8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 defTabSz="914400">
                <a:lnSpc>
                  <a:spcPct val="100000"/>
                </a:lnSpc>
              </a:pPr>
              <a:r>
                <a:rPr lang="en-US" sz="1100" b="0" u="none" strike="noStrike">
                  <a:solidFill>
                    <a:srgbClr val="0D1B2A"/>
                  </a:solidFill>
                  <a:effectLst/>
                  <a:uFillTx/>
                  <a:latin typeface="Calibri"/>
                  <a:ea typeface="Calibri"/>
                </a:rPr>
                <a:t>  Use zero or negative-sequence initialization</a:t>
              </a:r>
              <a:endParaRPr lang="en-US" sz="1100" b="0" u="none" strike="noStrike">
                <a:solidFill>
                  <a:srgbClr val="000000"/>
                </a:solidFill>
                <a:effectLst/>
                <a:uFillTx/>
                <a:latin typeface="DejaVu Sans"/>
              </a:endParaRPr>
            </a:p>
          </p:txBody>
        </p:sp>
        <p:sp>
          <p:nvSpPr>
            <p:cNvPr id="264" name="Shape 46"/>
            <p:cNvSpPr/>
            <p:nvPr/>
          </p:nvSpPr>
          <p:spPr>
            <a:xfrm>
              <a:off x="4800600" y="4334400"/>
              <a:ext cx="91080" cy="456840"/>
            </a:xfrm>
            <a:prstGeom prst="rect">
              <a:avLst/>
            </a:prstGeom>
            <a:solidFill>
              <a:srgbClr val="D94F3D"/>
            </a:solidFill>
            <a:ln w="12700">
              <a:solidFill>
                <a:srgbClr val="D94F3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65" name="Text 47"/>
            <p:cNvSpPr/>
            <p:nvPr/>
          </p:nvSpPr>
          <p:spPr>
            <a:xfrm>
              <a:off x="4965120" y="4352400"/>
              <a:ext cx="3794400" cy="40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ctr">
              <a:noAutofit/>
            </a:bodyPr>
            <a:p>
              <a:endParaRPr lang="en-US" sz="11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Shape 0"/>
          <p:cNvSpPr/>
          <p:nvPr/>
        </p:nvSpPr>
        <p:spPr>
          <a:xfrm>
            <a:off x="0" y="0"/>
            <a:ext cx="319680" cy="514332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7" name="Text 1"/>
          <p:cNvSpPr/>
          <p:nvPr/>
        </p:nvSpPr>
        <p:spPr>
          <a:xfrm>
            <a:off x="548640" y="22860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Conclusions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68" name="Shape 2"/>
          <p:cNvSpPr/>
          <p:nvPr/>
        </p:nvSpPr>
        <p:spPr>
          <a:xfrm>
            <a:off x="548640" y="804600"/>
            <a:ext cx="2285640" cy="45360"/>
          </a:xfrm>
          <a:prstGeom prst="rect">
            <a:avLst/>
          </a:prstGeom>
          <a:solidFill>
            <a:srgbClr val="F4A11D"/>
          </a:solidFill>
          <a:ln w="12700">
            <a:solidFill>
              <a:srgbClr val="F4A11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720" rIns="90000" bIns="72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9" name="Shape 3"/>
          <p:cNvSpPr/>
          <p:nvPr/>
        </p:nvSpPr>
        <p:spPr>
          <a:xfrm>
            <a:off x="548640" y="1005840"/>
            <a:ext cx="29232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0" name="Text 4"/>
          <p:cNvSpPr/>
          <p:nvPr/>
        </p:nvSpPr>
        <p:spPr>
          <a:xfrm>
            <a:off x="548640" y="1005840"/>
            <a:ext cx="29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1" name="Text 5"/>
          <p:cNvSpPr/>
          <p:nvPr/>
        </p:nvSpPr>
        <p:spPr>
          <a:xfrm>
            <a:off x="941760" y="1005840"/>
            <a:ext cx="7589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IVR is fastest with IPOPT; SVR is fastest with KNITRO. SVP is slowest for both — opposite of transmission OPF.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2" name="Shape 6"/>
          <p:cNvSpPr/>
          <p:nvPr/>
        </p:nvSpPr>
        <p:spPr>
          <a:xfrm>
            <a:off x="548640" y="1664280"/>
            <a:ext cx="29232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 7"/>
          <p:cNvSpPr/>
          <p:nvPr/>
        </p:nvSpPr>
        <p:spPr>
          <a:xfrm>
            <a:off x="548640" y="1664280"/>
            <a:ext cx="29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4" name="Text 8"/>
          <p:cNvSpPr/>
          <p:nvPr/>
        </p:nvSpPr>
        <p:spPr>
          <a:xfrm>
            <a:off x="941760" y="1664280"/>
            <a:ext cx="7589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Initialization matters: always use positive-sequence. Zero/negative sequence causes failures.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5" name="Shape 9"/>
          <p:cNvSpPr/>
          <p:nvPr/>
        </p:nvSpPr>
        <p:spPr>
          <a:xfrm>
            <a:off x="548640" y="2322720"/>
            <a:ext cx="29232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 10"/>
          <p:cNvSpPr/>
          <p:nvPr/>
        </p:nvSpPr>
        <p:spPr>
          <a:xfrm>
            <a:off x="548640" y="2322720"/>
            <a:ext cx="29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7" name="Text 11"/>
          <p:cNvSpPr/>
          <p:nvPr/>
        </p:nvSpPr>
        <p:spPr>
          <a:xfrm>
            <a:off x="941760" y="2322720"/>
            <a:ext cx="7589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 base must be ≤ 1000 kW. The 100 MVA transmission standard causes numerical inaccuracy.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78" name="Shape 12"/>
          <p:cNvSpPr/>
          <p:nvPr/>
        </p:nvSpPr>
        <p:spPr>
          <a:xfrm>
            <a:off x="548640" y="2980800"/>
            <a:ext cx="29232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 13"/>
          <p:cNvSpPr/>
          <p:nvPr/>
        </p:nvSpPr>
        <p:spPr>
          <a:xfrm>
            <a:off x="548640" y="2980800"/>
            <a:ext cx="29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0" name="Text 14"/>
          <p:cNvSpPr/>
          <p:nvPr/>
        </p:nvSpPr>
        <p:spPr>
          <a:xfrm>
            <a:off x="941760" y="2980800"/>
            <a:ext cx="7589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Angle difference constraints improve robustness at negligible computational cost.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1" name="Shape 15"/>
          <p:cNvSpPr/>
          <p:nvPr/>
        </p:nvSpPr>
        <p:spPr>
          <a:xfrm>
            <a:off x="548640" y="3639240"/>
            <a:ext cx="292320" cy="45684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 16"/>
          <p:cNvSpPr/>
          <p:nvPr/>
        </p:nvSpPr>
        <p:spPr>
          <a:xfrm>
            <a:off x="548640" y="3639240"/>
            <a:ext cx="29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3" name="Text 17"/>
          <p:cNvSpPr/>
          <p:nvPr/>
        </p:nvSpPr>
        <p:spPr>
          <a:xfrm>
            <a:off x="941760" y="3639240"/>
            <a:ext cx="75891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preprocessing (merging buses, adding limits) is essential for a well-posed problem, needs more efforts.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4" name="Shape 18"/>
          <p:cNvSpPr/>
          <p:nvPr/>
        </p:nvSpPr>
        <p:spPr>
          <a:xfrm>
            <a:off x="548640" y="4407480"/>
            <a:ext cx="5028840" cy="502560"/>
          </a:xfrm>
          <a:prstGeom prst="rect">
            <a:avLst/>
          </a:prstGeom>
          <a:solidFill>
            <a:srgbClr val="2E4057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 19"/>
          <p:cNvSpPr/>
          <p:nvPr/>
        </p:nvSpPr>
        <p:spPr>
          <a:xfrm>
            <a:off x="594360" y="440748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8BA3B0"/>
                </a:solidFill>
                <a:effectLst/>
                <a:uFillTx/>
                <a:latin typeface="Calibri"/>
                <a:ea typeface="Calibri"/>
              </a:rPr>
              <a:t>Future: GPU acceleration · SDP relaxations · Multiperiod OPF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  <p:sp>
        <p:nvSpPr>
          <p:cNvPr id="286" name="Shape 20"/>
          <p:cNvSpPr/>
          <p:nvPr/>
        </p:nvSpPr>
        <p:spPr>
          <a:xfrm>
            <a:off x="5943600" y="4407480"/>
            <a:ext cx="2834280" cy="502560"/>
          </a:xfrm>
          <a:prstGeom prst="rect">
            <a:avLst/>
          </a:prstGeom>
          <a:solidFill>
            <a:srgbClr val="0E8A8A"/>
          </a:solidFill>
          <a:ln w="12700">
            <a:solidFill>
              <a:srgbClr val="0E8A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 21"/>
          <p:cNvSpPr/>
          <p:nvPr/>
        </p:nvSpPr>
        <p:spPr>
          <a:xfrm>
            <a:off x="5943600" y="4407480"/>
            <a:ext cx="28342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github.com/hei06j/PMDlab.jl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LibreOffice/26.2.3.2$Linux_X86_64 LibreOffice_project/620$Build-2</Application>
  <AppVersion>15.0000</AppVersion>
  <Words>1024</Words>
  <Paragraphs>160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2026-05-26T22:57:55Z</dcterms:created>
  <dc:creator>Frederik Geth</dc:creator>
  <dc:description/>
  <dc:language>en-US</dc:language>
  <cp:lastModifiedBy/>
  <dcterms:modified xsi:type="dcterms:W3CDTF">2026-06-08T16:19:31Z</dcterms:modified>
  <cp:revision>10</cp:revision>
  <dc:subject>PptxGenJS Presentation</dc:subject>
  <dc:title>Solving Three-Phase Distribution OPF with Nonlinear Programming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ActionId">
    <vt:lpwstr>0d808e9d-468d-445b-b4ec-b0667ab0e0aa</vt:lpwstr>
  </property>
  <property fmtid="{D5CDD505-2E9C-101B-9397-08002B2CF9AE}" pid="3" name="MSIP_Label_0f488380-630a-4f55-a077-a19445e3f360_ContentBits">
    <vt:lpwstr>0</vt:lpwstr>
  </property>
  <property fmtid="{D5CDD505-2E9C-101B-9397-08002B2CF9AE}" pid="4" name="MSIP_Label_0f488380-630a-4f55-a077-a19445e3f360_Enabled">
    <vt:lpwstr>true</vt:lpwstr>
  </property>
  <property fmtid="{D5CDD505-2E9C-101B-9397-08002B2CF9AE}" pid="5" name="MSIP_Label_0f488380-630a-4f55-a077-a19445e3f360_Method">
    <vt:lpwstr>Standard</vt:lpwstr>
  </property>
  <property fmtid="{D5CDD505-2E9C-101B-9397-08002B2CF9AE}" pid="6" name="MSIP_Label_0f488380-630a-4f55-a077-a19445e3f360_Name">
    <vt:lpwstr>OFFICIAL - INTERNAL</vt:lpwstr>
  </property>
  <property fmtid="{D5CDD505-2E9C-101B-9397-08002B2CF9AE}" pid="7" name="MSIP_Label_0f488380-630a-4f55-a077-a19445e3f360_SetDate">
    <vt:lpwstr>2026-05-27T01:09:34Z</vt:lpwstr>
  </property>
  <property fmtid="{D5CDD505-2E9C-101B-9397-08002B2CF9AE}" pid="8" name="MSIP_Label_0f488380-630a-4f55-a077-a19445e3f360_SiteId">
    <vt:lpwstr>b6e377cf-9db3-46cb-91a2-fad9605bb15c</vt:lpwstr>
  </property>
  <property fmtid="{D5CDD505-2E9C-101B-9397-08002B2CF9AE}" pid="9" name="MSIP_Label_0f488380-630a-4f55-a077-a19445e3f360_Tag">
    <vt:lpwstr>50, 3, 0, 1</vt:lpwstr>
  </property>
  <property fmtid="{D5CDD505-2E9C-101B-9397-08002B2CF9AE}" pid="10" name="Notes">
    <vt:i4>10</vt:i4>
  </property>
  <property fmtid="{D5CDD505-2E9C-101B-9397-08002B2CF9AE}" pid="11" name="PresentationFormat">
    <vt:lpwstr>On-screen Show (16:9)</vt:lpwstr>
  </property>
  <property fmtid="{D5CDD505-2E9C-101B-9397-08002B2CF9AE}" pid="12" name="Slides">
    <vt:i4>10</vt:i4>
  </property>
</Properties>
</file>